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21"/>
    <p:sldId id="269" r:id="rId16"/>
    <p:sldId id="270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CEDBE6">
              <a:alpha val="49411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2930" y="193860"/>
            <a:ext cx="8278831" cy="6032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25854" y="141859"/>
            <a:ext cx="9102725" cy="1213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4347" y="1095273"/>
            <a:ext cx="9073515" cy="478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25854" y="256413"/>
            <a:ext cx="910272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STANLEY</a:t>
            </a:r>
            <a:r>
              <a:rPr sz="2000" spc="-45" dirty="0"/>
              <a:t> </a:t>
            </a:r>
            <a:r>
              <a:rPr sz="2000" dirty="0"/>
              <a:t>COLLEGE</a:t>
            </a:r>
            <a:r>
              <a:rPr sz="2000" spc="-50" dirty="0"/>
              <a:t> </a:t>
            </a:r>
            <a:r>
              <a:rPr sz="2000" dirty="0"/>
              <a:t>OF</a:t>
            </a:r>
            <a:r>
              <a:rPr sz="2000" spc="-60" dirty="0"/>
              <a:t> </a:t>
            </a:r>
            <a:r>
              <a:rPr sz="2000" dirty="0"/>
              <a:t>ENGINEERING</a:t>
            </a:r>
            <a:r>
              <a:rPr sz="2000" spc="-65" dirty="0"/>
              <a:t> </a:t>
            </a:r>
            <a:r>
              <a:rPr sz="2000" dirty="0"/>
              <a:t>AND</a:t>
            </a:r>
            <a:r>
              <a:rPr sz="2000" spc="-50" dirty="0"/>
              <a:t> </a:t>
            </a:r>
            <a:r>
              <a:rPr sz="2000" dirty="0"/>
              <a:t>TECHNOLOGY</a:t>
            </a:r>
            <a:r>
              <a:rPr sz="2000" spc="-75" dirty="0"/>
              <a:t> </a:t>
            </a:r>
            <a:r>
              <a:rPr sz="2000" dirty="0"/>
              <a:t>FOR</a:t>
            </a:r>
            <a:r>
              <a:rPr sz="2000" spc="-50" dirty="0"/>
              <a:t> </a:t>
            </a:r>
            <a:r>
              <a:rPr sz="2000" spc="-10" dirty="0"/>
              <a:t>WOMEN</a:t>
            </a:r>
            <a:endParaRPr sz="2000"/>
          </a:p>
          <a:p>
            <a:pPr marL="2540" algn="ctr">
              <a:lnSpc>
                <a:spcPct val="100000"/>
              </a:lnSpc>
              <a:spcBef>
                <a:spcPts val="120"/>
              </a:spcBef>
            </a:pPr>
            <a:r>
              <a:rPr sz="2000" dirty="0"/>
              <a:t>(AUTONOMOUS)</a:t>
            </a:r>
            <a:r>
              <a:rPr sz="2000" spc="445" dirty="0"/>
              <a:t> </a:t>
            </a:r>
            <a:r>
              <a:rPr sz="2000" dirty="0"/>
              <a:t>Abids.</a:t>
            </a:r>
            <a:r>
              <a:rPr sz="2000" spc="-20" dirty="0"/>
              <a:t> </a:t>
            </a:r>
            <a:r>
              <a:rPr sz="2000" dirty="0"/>
              <a:t>Hyderabad</a:t>
            </a:r>
            <a:r>
              <a:rPr sz="2000" spc="-30" dirty="0"/>
              <a:t> </a:t>
            </a:r>
            <a:r>
              <a:rPr sz="2000" dirty="0"/>
              <a:t>–</a:t>
            </a:r>
            <a:r>
              <a:rPr sz="2000" spc="-5" dirty="0"/>
              <a:t> </a:t>
            </a:r>
            <a:r>
              <a:rPr sz="2000" dirty="0"/>
              <a:t>500</a:t>
            </a:r>
            <a:r>
              <a:rPr sz="2000" spc="-15" dirty="0"/>
              <a:t> </a:t>
            </a:r>
            <a:r>
              <a:rPr sz="2000" spc="-25" dirty="0"/>
              <a:t>001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2797810" y="889141"/>
            <a:ext cx="6760845" cy="44450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90"/>
              </a:spcBef>
            </a:pPr>
            <a:r>
              <a:rPr sz="1300" b="1" i="1" dirty="0">
                <a:latin typeface="Arial" panose="020B0604020202020204"/>
                <a:cs typeface="Arial" panose="020B0604020202020204"/>
              </a:rPr>
              <a:t>(Affiliated</a:t>
            </a:r>
            <a:r>
              <a:rPr sz="1300" b="1" i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i="1" dirty="0">
                <a:latin typeface="Arial" panose="020B0604020202020204"/>
                <a:cs typeface="Arial" panose="020B0604020202020204"/>
              </a:rPr>
              <a:t>to</a:t>
            </a:r>
            <a:r>
              <a:rPr sz="1300" b="1" i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i="1" dirty="0">
                <a:latin typeface="Arial" panose="020B0604020202020204"/>
                <a:cs typeface="Arial" panose="020B0604020202020204"/>
              </a:rPr>
              <a:t>Osmania</a:t>
            </a:r>
            <a:r>
              <a:rPr sz="1300" b="1" i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i="1" dirty="0">
                <a:latin typeface="Arial" panose="020B0604020202020204"/>
                <a:cs typeface="Arial" panose="020B0604020202020204"/>
              </a:rPr>
              <a:t>University</a:t>
            </a:r>
            <a:r>
              <a:rPr sz="1300" b="1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i="1" dirty="0">
                <a:latin typeface="Arial" panose="020B0604020202020204"/>
                <a:cs typeface="Arial" panose="020B0604020202020204"/>
              </a:rPr>
              <a:t>&amp;</a:t>
            </a:r>
            <a:r>
              <a:rPr sz="1300" b="1" i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i="1" dirty="0">
                <a:latin typeface="Arial" panose="020B0604020202020204"/>
                <a:cs typeface="Arial" panose="020B0604020202020204"/>
              </a:rPr>
              <a:t>Approved</a:t>
            </a:r>
            <a:r>
              <a:rPr sz="1300" b="1" i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i="1" dirty="0">
                <a:latin typeface="Arial" panose="020B0604020202020204"/>
                <a:cs typeface="Arial" panose="020B0604020202020204"/>
              </a:rPr>
              <a:t>by</a:t>
            </a:r>
            <a:r>
              <a:rPr sz="1300" b="1" i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i="1" spc="-10" dirty="0">
                <a:latin typeface="Arial" panose="020B0604020202020204"/>
                <a:cs typeface="Arial" panose="020B0604020202020204"/>
              </a:rPr>
              <a:t>AICTE)</a:t>
            </a:r>
            <a:endParaRPr sz="13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300" b="1" dirty="0">
                <a:latin typeface="Arial" panose="020B0604020202020204"/>
                <a:cs typeface="Arial" panose="020B0604020202020204"/>
              </a:rPr>
              <a:t>(All</a:t>
            </a:r>
            <a:r>
              <a:rPr sz="13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eligible</a:t>
            </a:r>
            <a:r>
              <a:rPr sz="13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UG</a:t>
            </a:r>
            <a:r>
              <a:rPr sz="13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Courses</a:t>
            </a:r>
            <a:r>
              <a:rPr sz="13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are</a:t>
            </a:r>
            <a:r>
              <a:rPr sz="13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accredited</a:t>
            </a:r>
            <a:r>
              <a:rPr sz="13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by</a:t>
            </a:r>
            <a:r>
              <a:rPr sz="1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NBA</a:t>
            </a:r>
            <a:r>
              <a:rPr sz="13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&amp;</a:t>
            </a:r>
            <a:r>
              <a:rPr sz="13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Accredited</a:t>
            </a:r>
            <a:r>
              <a:rPr sz="13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by</a:t>
            </a:r>
            <a:r>
              <a:rPr sz="13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NAAC</a:t>
            </a:r>
            <a:r>
              <a:rPr sz="13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with</a:t>
            </a:r>
            <a:r>
              <a:rPr sz="13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dirty="0">
                <a:latin typeface="Arial" panose="020B0604020202020204"/>
                <a:cs typeface="Arial" panose="020B0604020202020204"/>
              </a:rPr>
              <a:t>‘A’</a:t>
            </a:r>
            <a:r>
              <a:rPr sz="13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300" b="1" spc="-10" dirty="0">
                <a:latin typeface="Arial" panose="020B0604020202020204"/>
                <a:cs typeface="Arial" panose="020B0604020202020204"/>
              </a:rPr>
              <a:t>Grade)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407" y="1520189"/>
            <a:ext cx="5590540" cy="9715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ts val="2520"/>
              </a:lnSpc>
              <a:spcBef>
                <a:spcPts val="85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20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Engineering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Academic</a:t>
            </a:r>
            <a:r>
              <a:rPr sz="20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Year: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2026-</a:t>
            </a:r>
            <a:r>
              <a:rPr sz="2000" b="1" spc="-20" dirty="0">
                <a:latin typeface="Times New Roman" panose="02020603050405020304"/>
                <a:cs typeface="Times New Roman" panose="02020603050405020304"/>
              </a:rPr>
              <a:t>2027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" algn="ctr">
              <a:lnSpc>
                <a:spcPct val="100000"/>
              </a:lnSpc>
              <a:spcBef>
                <a:spcPts val="20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</a:rPr>
              <a:t>Major</a:t>
            </a:r>
            <a:r>
              <a:rPr sz="20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Project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 descr="A red sign with white text  AI-generated content may be incorrect.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1726" y="2567304"/>
            <a:ext cx="828548" cy="8953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77692" y="3671697"/>
            <a:ext cx="68078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Vynk: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Powered</a:t>
            </a:r>
            <a:r>
              <a:rPr sz="1600" b="1" spc="3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Activity,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Talent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Community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Networking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Platform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0014" y="4860112"/>
            <a:ext cx="22745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4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COORDINATOR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9520" y="4860290"/>
            <a:ext cx="5526405" cy="16510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altLang="" sz="1400" b="1" dirty="0">
                <a:latin typeface="Times New Roman" panose="02020603050405020304"/>
                <a:cs typeface="Times New Roman" panose="02020603050405020304"/>
              </a:rPr>
              <a:t>                                                                          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4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4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Team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17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5735" y="5278373"/>
            <a:ext cx="21647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MRS.</a:t>
            </a:r>
            <a:r>
              <a:rPr sz="1400" spc="-35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SHUGUFTA</a:t>
            </a:r>
            <a:r>
              <a:rPr sz="1400" spc="-3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Times New Roman" panose="02020603050405020304"/>
                <a:cs typeface="Times New Roman" panose="02020603050405020304"/>
              </a:rPr>
              <a:t>FATIMA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295385" y="5310489"/>
          <a:ext cx="2673985" cy="613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865"/>
                <a:gridCol w="1264285"/>
              </a:tblGrid>
              <a:tr h="202565">
                <a:tc>
                  <a:txBody>
                    <a:bodyPr/>
                    <a:lstStyle/>
                    <a:p>
                      <a:pPr marL="41910">
                        <a:lnSpc>
                          <a:spcPts val="1500"/>
                        </a:lnSpc>
                      </a:pPr>
                      <a:r>
                        <a:rPr sz="140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Ayesha</a:t>
                      </a:r>
                      <a:r>
                        <a:rPr sz="1400" spc="-3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spc="-1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Rafeeq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1500"/>
                        </a:lnSpc>
                      </a:pPr>
                      <a:r>
                        <a:rPr sz="1400" spc="-1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160623733132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208279">
                <a:tc>
                  <a:txBody>
                    <a:bodyPr/>
                    <a:lstStyle/>
                    <a:p>
                      <a:pPr marL="39370">
                        <a:lnSpc>
                          <a:spcPts val="1545"/>
                        </a:lnSpc>
                      </a:pPr>
                      <a:r>
                        <a:rPr sz="140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Midde</a:t>
                      </a:r>
                      <a:r>
                        <a:rPr sz="1400" spc="-4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spc="-2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Puja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385" algn="r">
                        <a:lnSpc>
                          <a:spcPts val="1545"/>
                        </a:lnSpc>
                      </a:pPr>
                      <a:r>
                        <a:rPr sz="1400" spc="-1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160623733160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202565">
                <a:tc>
                  <a:txBody>
                    <a:bodyPr/>
                    <a:lstStyle/>
                    <a:p>
                      <a:pPr marL="31750">
                        <a:lnSpc>
                          <a:spcPts val="1500"/>
                        </a:lnSpc>
                      </a:pPr>
                      <a:r>
                        <a:rPr sz="140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Pedada</a:t>
                      </a:r>
                      <a:r>
                        <a:rPr sz="1400" spc="-2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400" spc="-1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Kusuma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00"/>
                        </a:lnSpc>
                      </a:pPr>
                      <a:r>
                        <a:rPr sz="1400" spc="-10" dirty="0">
                          <a:solidFill>
                            <a:srgbClr val="0D0D0D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160623733191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4265295" y="4858385"/>
            <a:ext cx="27641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1400" b="1">
                <a:latin typeface="Times New Roman" panose="02020603050405020304" charset="0"/>
                <a:cs typeface="Times New Roman" panose="02020603050405020304" charset="0"/>
              </a:rPr>
              <a:t>GUIDE NAME</a:t>
            </a:r>
            <a:endParaRPr lang="en-IN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1400">
                <a:latin typeface="Times New Roman" panose="02020603050405020304" charset="0"/>
                <a:cs typeface="Times New Roman" panose="02020603050405020304" charset="0"/>
              </a:rPr>
              <a:t>K.NAGA NEEHARIKA</a:t>
            </a:r>
            <a:endParaRPr lang="en-I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32146" y="276859"/>
            <a:ext cx="27514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10" dirty="0"/>
              <a:t>CONTENTS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694740" y="1026485"/>
            <a:ext cx="2032000" cy="320103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0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Abstract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Introduction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265" indent="-456565">
              <a:lnSpc>
                <a:spcPct val="100000"/>
              </a:lnSpc>
              <a:spcBef>
                <a:spcPts val="875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Literature Review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265" indent="-456565">
              <a:lnSpc>
                <a:spcPct val="100000"/>
              </a:lnSpc>
              <a:spcBef>
                <a:spcPts val="890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Existing System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265" indent="-456565">
              <a:lnSpc>
                <a:spcPct val="100000"/>
              </a:lnSpc>
              <a:spcBef>
                <a:spcPts val="875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Problem Statement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265" indent="-456565">
              <a:lnSpc>
                <a:spcPct val="100000"/>
              </a:lnSpc>
              <a:spcBef>
                <a:spcPts val="875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Objectives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265" indent="-456565">
              <a:lnSpc>
                <a:spcPct val="100000"/>
              </a:lnSpc>
              <a:spcBef>
                <a:spcPts val="890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Proposed System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69265" indent="-456565">
              <a:lnSpc>
                <a:spcPct val="100000"/>
              </a:lnSpc>
              <a:spcBef>
                <a:spcPts val="875"/>
              </a:spcBef>
              <a:buSzPct val="125000"/>
              <a:buAutoNum type="arabicPeriod"/>
              <a:tabLst>
                <a:tab pos="469265" algn="l"/>
              </a:tabLst>
              <a:defRPr sz="2000">
                <a:solidFill>
                  <a:srgbClr val="1F2937"/>
                </a:solidFill>
                <a:latin typeface="Calibri"/>
              </a:defRPr>
            </a:pPr>
            <a:r>
              <a:t>System Architecture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defRPr sz="2000">
                <a:solidFill>
                  <a:srgbClr val="1F2937"/>
                </a:solidFill>
                <a:latin typeface="Calibri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4810" rIns="0" bIns="0" rtlCol="0">
            <a:spAutoFit/>
          </a:bodyPr>
          <a:lstStyle/>
          <a:p>
            <a:pPr marL="28187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ABSTRACT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88516" y="1399311"/>
            <a:ext cx="10155555" cy="4050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765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Vynk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powered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Activity,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Talent,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Community Networking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designed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connect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their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interests,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skills,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availability,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location,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intent.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discover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like-minded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individuals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communities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sports,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entertainment,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education,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cooking,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music,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technology,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knowledge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sharing,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other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real-world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online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activities.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also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opportunities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talented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individuals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small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creators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showcase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their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skills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and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connect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audiences.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allows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organizers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activities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events,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collect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expressions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interest,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estimate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participation,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budgets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ticket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prices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before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making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investments.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AI-powered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recommendations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identify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relevant</a:t>
            </a:r>
            <a:r>
              <a:rPr sz="160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people,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activities,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collaborations,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communities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preferences.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Vynk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also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supports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collaboration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local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businesses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small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contributors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shared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experiences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opportunities.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promoting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meaningful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human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connections,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talent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discovery,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knowledge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sharing,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affordable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participation,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community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engagement,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Vynk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aims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to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reduce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isolation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create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opportunities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individuals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communities.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109" rIns="0" bIns="0" rtlCol="0">
            <a:spAutoFit/>
          </a:bodyPr>
          <a:lstStyle/>
          <a:p>
            <a:pPr marL="24504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02232" y="1402486"/>
            <a:ext cx="945451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890905" indent="-287020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"/>
              <a:tabLst>
                <a:tab pos="29908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today’s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digitally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connected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world,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easily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communicate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online,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finding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like-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minded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individuals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shared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interests,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activities,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world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experiences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remains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challenge.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40"/>
              </a:spcBef>
              <a:buFont typeface="Wingdings" panose="05000000000000000000"/>
              <a:buChar char=""/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marR="5080" indent="-287020">
              <a:lnSpc>
                <a:spcPct val="150000"/>
              </a:lnSpc>
              <a:buFont typeface="Wingdings" panose="05000000000000000000"/>
              <a:buChar char=""/>
              <a:tabLst>
                <a:tab pos="29908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Individuals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interested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sports,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music,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cooking,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education,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gaming,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technology,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creative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activities</a:t>
            </a:r>
            <a:r>
              <a:rPr sz="16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often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struggle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find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teammates,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groups,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communities,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similar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interests.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45"/>
              </a:spcBef>
              <a:buFont typeface="Wingdings" panose="05000000000000000000"/>
              <a:buChar char=""/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marR="279400" indent="-287020">
              <a:lnSpc>
                <a:spcPct val="150000"/>
              </a:lnSpc>
              <a:buFont typeface="Wingdings" panose="05000000000000000000"/>
              <a:buChar char="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Talented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individuals,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hobbyists,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small-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scale</a:t>
            </a:r>
            <a:r>
              <a:rPr sz="1600"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creators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valuable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skills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often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lack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right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audience,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resources,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venues,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opportunities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showcase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share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their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talents.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40"/>
              </a:spcBef>
              <a:buFont typeface="Wingdings" panose="05000000000000000000"/>
              <a:buChar char=""/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66700" marR="487680" indent="-254635">
              <a:lnSpc>
                <a:spcPct val="150000"/>
              </a:lnSpc>
              <a:buFont typeface="Wingdings" panose="05000000000000000000"/>
              <a:buChar char=""/>
              <a:tabLst>
                <a:tab pos="266700" algn="l"/>
                <a:tab pos="29908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Vynk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addresses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challenges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providing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powered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intelligently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connects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people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activities,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talents,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communities,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collaboration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opportunities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encouraging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meaningful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interaction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participation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0613" y="141859"/>
            <a:ext cx="5622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LITERATURE</a:t>
            </a:r>
            <a:r>
              <a:rPr spc="-155" dirty="0"/>
              <a:t> </a:t>
            </a:r>
            <a:r>
              <a:rPr spc="-10" dirty="0"/>
              <a:t>REVIEW</a:t>
            </a:r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3747" y="827532"/>
          <a:ext cx="11120755" cy="5941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9935"/>
                <a:gridCol w="2312669"/>
                <a:gridCol w="1873250"/>
                <a:gridCol w="1985010"/>
                <a:gridCol w="1684654"/>
                <a:gridCol w="2425700"/>
              </a:tblGrid>
              <a:tr h="517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S.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No.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TITLE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PAPER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PROBLEM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IDENTIFIED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118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PROPOSED METHODOLOGY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DATASET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3536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LIMITATIONS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REMAINING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GAP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</a:tr>
              <a:tr h="2252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95250">
                        <a:lnSpc>
                          <a:spcPct val="15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“Event-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Networks: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Linking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Online</a:t>
                      </a:r>
                      <a:r>
                        <a:rPr sz="12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Offline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Worlds”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(2012)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—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Xingjie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Liu</a:t>
                      </a:r>
                      <a:r>
                        <a:rPr sz="1200" spc="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al.,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ACM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KDD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7399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Existing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networks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mainly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focus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online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interactions and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not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adequately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represent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offline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activities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face-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to-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face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interactions.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62890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Constructs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heterogeneous Event-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Social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Networks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using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users,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groups,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interactions.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Studies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community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detection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information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flow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event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2509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Gowalla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datasets.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data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was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collected from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Oct.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2011–Jan.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2012.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710" marR="31178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provide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end-to-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end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personalized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intent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person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→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activity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community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system.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It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710" marR="18288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also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dynamically</a:t>
                      </a:r>
                      <a:r>
                        <a:rPr sz="1200" spc="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generate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new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local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activities.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</a:tr>
              <a:tr h="3170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09855">
                        <a:lnSpc>
                          <a:spcPct val="150000"/>
                        </a:lnSpc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“Effective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Discovery: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Using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Location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Social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Information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Scoping</a:t>
                      </a: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Event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Recommendations”</a:t>
                      </a:r>
                      <a:r>
                        <a:rPr sz="1200" b="1" spc="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(2011)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—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Elizabeth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M.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Daly,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Werner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Geyer,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ACM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RecSys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0033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becomes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difficult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when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the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geographical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scope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is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unclear.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Socially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relevant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may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still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be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geographically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unsuitable.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4447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density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geographic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distance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to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classify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local,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global.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Combines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collaborative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filtering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with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proximity-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spc="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ranking.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3081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IBM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w3Inviter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dataset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containing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81,191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users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 6,168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710" marR="11938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Dataset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represents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organizational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environment.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perform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dynamic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person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matching,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natural-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language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intent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understanding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or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local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activity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creation.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83171" y="224663"/>
          <a:ext cx="11502390" cy="6514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5330"/>
                <a:gridCol w="2099945"/>
                <a:gridCol w="1910079"/>
                <a:gridCol w="2308225"/>
                <a:gridCol w="1827529"/>
                <a:gridCol w="2531745"/>
              </a:tblGrid>
              <a:tr h="838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S.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No.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TITLE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PAPER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PROBLEM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IDENTIFIED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PROPOSED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METHODOLOGY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DATASET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LIMITATIONS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REMAINING</a:t>
                      </a:r>
                      <a:r>
                        <a:rPr sz="14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GAP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</a:tr>
              <a:tr h="17043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47040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“Hybrid</a:t>
                      </a:r>
                      <a:r>
                        <a:rPr sz="12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Event Recommendation</a:t>
                      </a:r>
                      <a:r>
                        <a:rPr sz="1200" b="1" spc="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Using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Linked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User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Diversity”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(2013)</a:t>
                      </a:r>
                      <a:r>
                        <a:rPr sz="12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—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Houda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47180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Khrouf,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Raphaël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Troncy,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ACM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RecSys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21920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face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information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overload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because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social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platforms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contain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many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events,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while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sparsity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makes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 difficult.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8270">
                        <a:lnSpc>
                          <a:spcPct val="15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Combines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content-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recommendation,</a:t>
                      </a:r>
                      <a:r>
                        <a:rPr sz="12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collaborative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filtering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Linked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Data.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user-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diversity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model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identifies</a:t>
                      </a:r>
                      <a:r>
                        <a:rPr sz="1200" spc="5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different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topic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interests.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3749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event-service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containing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event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content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user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information.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10515">
                        <a:lnSpc>
                          <a:spcPct val="15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Depends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content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historical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interactions.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Mainly</a:t>
                      </a:r>
                      <a:r>
                        <a:rPr sz="12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existing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create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activities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find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compatible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participants</a:t>
                      </a:r>
                      <a:r>
                        <a:rPr sz="12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dynamically.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</a:tr>
              <a:tr h="397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86360" algn="just">
                        <a:lnSpc>
                          <a:spcPct val="150000"/>
                        </a:lnSpc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“Exploring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Acquaintances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Network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Site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Users</a:t>
                      </a:r>
                      <a:r>
                        <a:rPr sz="12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for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Effective</a:t>
                      </a:r>
                      <a:r>
                        <a:rPr sz="12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87630" algn="just">
                        <a:lnSpc>
                          <a:spcPct val="15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Recommendations”</a:t>
                      </a:r>
                      <a:r>
                        <a:rPr sz="1200" b="1" spc="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(2016)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—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Chien-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Chin</a:t>
                      </a:r>
                      <a:r>
                        <a:rPr sz="1200" spc="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Chen,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Yu-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Chun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Sun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2636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are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short-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lived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often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have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insufficient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ratings,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making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traditional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collaborative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filtering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less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effective.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7813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interactions,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event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attendance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content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to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identify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relevant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acquaintances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recommend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events.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9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6637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Facebook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containing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21,101 event-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attendance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records.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6543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Depends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heavily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previous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social/event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interactions.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not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solve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new-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matching,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group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formation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from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scratch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AI-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intent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understanding.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0918" y="247015"/>
          <a:ext cx="11510010" cy="6294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/>
                <a:gridCol w="2099945"/>
                <a:gridCol w="1847850"/>
                <a:gridCol w="2207260"/>
                <a:gridCol w="1990725"/>
                <a:gridCol w="2532379"/>
              </a:tblGrid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S.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No.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TITLE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PAPER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PROBLEM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IDENTIFIED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PROPOSED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METHODOLOGY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DATASET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LIMITATIONS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REMAINING</a:t>
                      </a:r>
                      <a:r>
                        <a:rPr sz="14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GAP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</a:tr>
              <a:tr h="197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2710">
                        <a:lnSpc>
                          <a:spcPct val="150000"/>
                        </a:lnSpc>
                        <a:spcBef>
                          <a:spcPts val="114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“Personalized</a:t>
                      </a:r>
                      <a:r>
                        <a:rPr sz="1200" b="1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Group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Recommender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Systems</a:t>
                      </a:r>
                      <a:r>
                        <a:rPr sz="1200" b="1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for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Location-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Event-Based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Networks”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(2016)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—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Sanjay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Purushotham,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C.-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C.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Jay Kuo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95885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Individual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recommendations</a:t>
                      </a:r>
                      <a:r>
                        <a:rPr sz="12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are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insufficient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groups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because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preferences,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locations,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semantics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relationships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influence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choices.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1940">
                        <a:lnSpc>
                          <a:spcPct val="15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2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Bayesian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collaborative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filtering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location,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event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semantics,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membership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interactions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to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provide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personalized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group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6225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Gowalla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location-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network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social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network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data.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0985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Focuses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mainly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existing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groups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activities.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It does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dynamically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form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strangers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or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understand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natural-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language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activity intent.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</a:tr>
              <a:tr h="3536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20066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“Joint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Event-Partner Recommendation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Event-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Networks”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(2018)</a:t>
                      </a:r>
                      <a:r>
                        <a:rPr sz="12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—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Hongzhi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Yin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et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al.,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IEEE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ICDE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1557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Traditional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recommendation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not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identify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suitable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companions,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making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it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difficult for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find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appropriate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partners.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9271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graph-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based embedding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users,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events,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locations,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time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textual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information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jointly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recommend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suitable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partners.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0414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Social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Network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containing user-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event, social,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location,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time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content relationships.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08280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Works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mainly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existing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partners.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It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support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dynamic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activity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creation,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free-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form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intent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understanding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formation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of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new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compatible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groups.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79412" y="170306"/>
          <a:ext cx="11509375" cy="6503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9140"/>
                <a:gridCol w="1881505"/>
                <a:gridCol w="2059939"/>
                <a:gridCol w="2217419"/>
                <a:gridCol w="1990089"/>
                <a:gridCol w="2531745"/>
              </a:tblGrid>
              <a:tr h="828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S.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No.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TITLE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PAPER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PROBLEM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IDENTIFIED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PROPOSED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METHODOLOGY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DATASET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LIMITATIONS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REMAINING</a:t>
                      </a:r>
                      <a:r>
                        <a:rPr sz="14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GAP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</a:tr>
              <a:tr h="17043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“Budget-Constrained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Organization</a:t>
                      </a:r>
                      <a:r>
                        <a:rPr sz="1200" b="1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Influential</a:t>
                      </a:r>
                      <a:r>
                        <a:rPr sz="12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Events”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26098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(2018)</a:t>
                      </a:r>
                      <a:r>
                        <a:rPr sz="12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—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Kai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Han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al.,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IEEE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ICDE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59410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Organizing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offline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social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difficult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when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organizers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have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limited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budgets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need to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select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influential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participants effectively.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25120">
                        <a:lnSpc>
                          <a:spcPct val="15000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200" spc="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budget-constrained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influence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optimization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with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submodular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optimization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sampling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techniques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select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influential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users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social events.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1018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Meetup,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Facebook,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Flixster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Orkut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network datasets.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42875">
                        <a:lnSpc>
                          <a:spcPct val="150000"/>
                        </a:lnSpc>
                        <a:spcBef>
                          <a:spcPts val="1140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Focuses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selecting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influential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users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rather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than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participant cost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sharing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or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compatibility.</a:t>
                      </a:r>
                      <a:r>
                        <a:rPr sz="1200" spc="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It</a:t>
                      </a:r>
                      <a:r>
                        <a:rPr sz="120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support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activity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creation,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demand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prediction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dynamic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formation.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</a:tr>
              <a:tr h="397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35890">
                        <a:lnSpc>
                          <a:spcPct val="150000"/>
                        </a:lnSpc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“Event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 Recommendation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b="1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Networks</a:t>
                      </a:r>
                      <a:r>
                        <a:rPr sz="12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Reverse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Random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Walk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Participant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Scale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Control”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(2018)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—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Yijun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Mo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et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al.,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Future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Generation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Computer Systems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4922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have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limited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capacity,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</a:t>
                      </a:r>
                      <a:r>
                        <a:rPr sz="1200" spc="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recommendations</a:t>
                      </a:r>
                      <a:r>
                        <a:rPr sz="1200" spc="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must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balance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preferences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with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appropriate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participant scale.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31051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Builds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heterogeneous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graph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applies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Reverse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Random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Walk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Restart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(RRWR)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along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participant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scale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control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 recommendation.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80035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dataset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containing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approximately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million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users,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million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events,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70,000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80,000 tags.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1303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Assumes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that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 already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exist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support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dynamic</a:t>
                      </a:r>
                      <a:r>
                        <a:rPr sz="120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activity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creation,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participant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compatibility,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cost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sharing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demand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prediction.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79412" y="308229"/>
          <a:ext cx="11509375" cy="6195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685"/>
                <a:gridCol w="2070735"/>
                <a:gridCol w="1955164"/>
                <a:gridCol w="2218055"/>
                <a:gridCol w="1990725"/>
                <a:gridCol w="2532379"/>
              </a:tblGrid>
              <a:tr h="788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S.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 No.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TITLE</a:t>
                      </a:r>
                      <a:r>
                        <a:rPr sz="1400" spc="-3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OF</a:t>
                      </a:r>
                      <a:r>
                        <a:rPr sz="1400" spc="-4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THE</a:t>
                      </a:r>
                      <a:r>
                        <a:rPr sz="1400" spc="-2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PAPER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PROBLEM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IDENTIFIED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PROPOSED</a:t>
                      </a:r>
                      <a:r>
                        <a:rPr sz="1400" spc="-6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METHODOLOGY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 panose="020F0502020204030204"/>
                          <a:cs typeface="Calibri" panose="020F0502020204030204"/>
                        </a:rPr>
                        <a:t>DATASET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LIMITATIONS</a:t>
                      </a:r>
                      <a:r>
                        <a:rPr sz="1400" spc="-40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/</a:t>
                      </a:r>
                      <a:r>
                        <a:rPr sz="1400" spc="-3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dirty="0">
                          <a:latin typeface="Calibri" panose="020F0502020204030204"/>
                          <a:cs typeface="Calibri" panose="020F0502020204030204"/>
                        </a:rPr>
                        <a:t>REMAINING</a:t>
                      </a:r>
                      <a:r>
                        <a:rPr sz="1400" spc="-55" dirty="0"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r>
                        <a:rPr sz="1400" spc="-25" dirty="0">
                          <a:latin typeface="Calibri" panose="020F0502020204030204"/>
                          <a:cs typeface="Calibri" panose="020F0502020204030204"/>
                        </a:rPr>
                        <a:t>GAP</a:t>
                      </a:r>
                      <a:endParaRPr sz="1400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0EFEC"/>
                    </a:solidFill>
                  </a:tcPr>
                </a:tc>
              </a:tr>
              <a:tr h="197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50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98755">
                        <a:lnSpc>
                          <a:spcPct val="150000"/>
                        </a:lnSpc>
                        <a:spcBef>
                          <a:spcPts val="1140"/>
                        </a:spcBef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“Leveraging</a:t>
                      </a:r>
                      <a:r>
                        <a:rPr sz="12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Social Relationship-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Graph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Attention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Model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Group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Recommendation”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(2020)</a:t>
                      </a:r>
                      <a:r>
                        <a:rPr sz="12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—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Guoqiong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Liao,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Xiaobin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Deng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7475">
                        <a:lnSpc>
                          <a:spcPct val="1500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recommendation</a:t>
                      </a:r>
                      <a:r>
                        <a:rPr sz="12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suffers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from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sparsity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cold-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start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problems,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while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different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relationships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have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different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levels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of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influence.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255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1112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Graph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Attention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Networks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(GAT)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heterogeneous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user-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social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graphs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model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different</a:t>
                      </a:r>
                      <a:r>
                        <a:rPr sz="120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relationships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group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40957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datasets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from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Chicago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San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Diego.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24155">
                        <a:lnSpc>
                          <a:spcPct val="15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Focuses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existing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events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does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support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group-to-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group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relationships,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free-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form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intent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understanding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dynamic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activity creation.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E6EDEF"/>
                    </a:solidFill>
                  </a:tcPr>
                </a:tc>
              </a:tr>
              <a:tr h="34277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10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18110">
                        <a:lnSpc>
                          <a:spcPct val="150000"/>
                        </a:lnSpc>
                      </a:pP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“Social</a:t>
                      </a:r>
                      <a:r>
                        <a:rPr sz="12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Event Recommendation</a:t>
                      </a:r>
                      <a:r>
                        <a:rPr sz="1200" b="1" spc="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Method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spc="-10" dirty="0">
                          <a:latin typeface="Times New Roman" panose="02020603050405020304"/>
                          <a:cs typeface="Times New Roman" panose="02020603050405020304"/>
                        </a:rPr>
                        <a:t>Unexpectedness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Metric”</a:t>
                      </a:r>
                      <a:r>
                        <a:rPr sz="1200" b="1" spc="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b="1" dirty="0">
                          <a:latin typeface="Times New Roman" panose="02020603050405020304"/>
                          <a:cs typeface="Times New Roman" panose="02020603050405020304"/>
                        </a:rPr>
                        <a:t>(2024)</a:t>
                      </a:r>
                      <a:r>
                        <a:rPr sz="1200" b="1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—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Tao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Sun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et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al.,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Journal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Computer Applications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1440" marR="10541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Repetitive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recommendations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limit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users’</a:t>
                      </a:r>
                      <a:r>
                        <a:rPr sz="12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opportunities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to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discover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new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diverse experiences.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13970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attention/self-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attention</a:t>
                      </a:r>
                      <a:r>
                        <a:rPr sz="1200" spc="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</a:t>
                      </a:r>
                      <a:r>
                        <a:rPr sz="1200" spc="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unexpectedness-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200" spc="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metric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balance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user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preferences</a:t>
                      </a:r>
                      <a:r>
                        <a:rPr sz="1200" spc="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with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novelty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event recommendations.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24130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Meetup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datasets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from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New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York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2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California.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92075" marR="90170">
                        <a:lnSpc>
                          <a:spcPct val="15000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Depends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historical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interactions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does</a:t>
                      </a:r>
                      <a:r>
                        <a:rPr sz="12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support</a:t>
                      </a:r>
                      <a:r>
                        <a:rPr sz="12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dynamic</a:t>
                      </a:r>
                      <a:r>
                        <a:rPr sz="120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activity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creation,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compatible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group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formation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local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creator/business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connections.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3493B9"/>
                      </a:solidFill>
                      <a:prstDash val="solid"/>
                    </a:lnL>
                    <a:lnR w="12700">
                      <a:solidFill>
                        <a:srgbClr val="3493B9"/>
                      </a:solidFill>
                      <a:prstDash val="solid"/>
                    </a:lnR>
                    <a:lnT w="12700">
                      <a:solidFill>
                        <a:srgbClr val="3493B9"/>
                      </a:solidFill>
                      <a:prstDash val="solid"/>
                    </a:lnT>
                    <a:lnB w="12700">
                      <a:solidFill>
                        <a:srgbClr val="3493B9"/>
                      </a:solidFill>
                      <a:prstDash val="solid"/>
                    </a:lnB>
                    <a:solidFill>
                      <a:srgbClr val="3493B9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81703" y="429513"/>
            <a:ext cx="4724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EXISTING</a:t>
            </a:r>
            <a:r>
              <a:rPr spc="-19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327530" y="1150879"/>
            <a:ext cx="9007475" cy="514731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platforms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discovery,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sports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participation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matching,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they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mainly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focus</a:t>
            </a:r>
            <a:r>
              <a:rPr sz="1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pre-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activities rather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creating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opportunities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intent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unmet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demand.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Meetup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Interest-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groups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events.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 marR="4091305">
              <a:lnSpc>
                <a:spcPct val="150000"/>
              </a:lnSpc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Playo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Sports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players,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games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venue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booking.</a:t>
            </a:r>
            <a:r>
              <a:rPr sz="1600" spc="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Timeleft</a:t>
            </a:r>
            <a:r>
              <a:rPr sz="16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Matches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planned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experiences.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Eventbrite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Discovery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registration for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events.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Gaps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00685" indent="-3879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400685" algn="l"/>
              </a:tabLst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Intent-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16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discovery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Unmet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local-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demand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detection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Cross-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domain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matching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Talent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Audience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Opportunity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Demand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validation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before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investment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1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formation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Activities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Creators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→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Venues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platform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0295" rIns="0" bIns="0" rtlCol="0">
            <a:spAutoFit/>
          </a:bodyPr>
          <a:lstStyle/>
          <a:p>
            <a:pPr marL="1537335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5" dirty="0"/>
              <a:t> </a:t>
            </a:r>
            <a:r>
              <a:rPr spc="-10" dirty="0"/>
              <a:t>STATEMENT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61363" y="1628927"/>
            <a:ext cx="990917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often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want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participate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activities,</a:t>
            </a:r>
            <a:r>
              <a:rPr sz="16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meet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like-minded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individuals,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share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skills,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showcase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their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talents,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but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platforms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mainly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depend on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already-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created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events,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groups,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predefined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experiences.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person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who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free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bored</a:t>
            </a:r>
            <a:r>
              <a:rPr sz="16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16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know</a:t>
            </a:r>
            <a:r>
              <a:rPr sz="16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what</a:t>
            </a:r>
            <a:r>
              <a:rPr sz="16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do,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16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6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find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enough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6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participants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nearby,</a:t>
            </a:r>
            <a:r>
              <a:rPr sz="16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16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consider</a:t>
            </a:r>
            <a:r>
              <a:rPr sz="16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activity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too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expensive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alone,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have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skill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 idea but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audience,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venue, or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resources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turn</a:t>
            </a:r>
            <a:r>
              <a:rPr sz="1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experience.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Similarly,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creators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small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businesses</a:t>
            </a:r>
            <a:r>
              <a:rPr sz="16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invest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activity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without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knowing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whether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sufficient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demand.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Therefore,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there</a:t>
            </a:r>
            <a:r>
              <a:rPr sz="16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6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need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60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160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platform</a:t>
            </a:r>
            <a:r>
              <a:rPr sz="16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understands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user’s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intent,</a:t>
            </a:r>
            <a:r>
              <a:rPr sz="16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interests,</a:t>
            </a:r>
            <a:r>
              <a:rPr sz="16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location,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availability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budget,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identifies</a:t>
            </a:r>
            <a:r>
              <a:rPr sz="1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compatible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unmet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demand,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connects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people,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activities,</a:t>
            </a:r>
            <a:r>
              <a:rPr sz="1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creators,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venues</a:t>
            </a:r>
            <a:r>
              <a:rPr sz="16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opportunities</a:t>
            </a:r>
            <a:r>
              <a:rPr sz="16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transform</a:t>
            </a:r>
            <a:r>
              <a:rPr sz="1600" spc="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individual</a:t>
            </a:r>
            <a:r>
              <a:rPr sz="16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interests</a:t>
            </a:r>
            <a:r>
              <a:rPr sz="1600" spc="4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16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affordable,</a:t>
            </a:r>
            <a:r>
              <a:rPr sz="1600" spc="4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meaningful</a:t>
            </a:r>
            <a:r>
              <a:rPr sz="1600" spc="4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world</a:t>
            </a:r>
            <a:r>
              <a:rPr sz="1600" spc="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community experiences.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5944" rIns="0" bIns="0" rtlCol="0">
            <a:spAutoFit/>
          </a:bodyPr>
          <a:lstStyle/>
          <a:p>
            <a:pPr marL="27552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9683" y="1535074"/>
            <a:ext cx="1034605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40132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interest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intent</a:t>
            </a:r>
            <a:r>
              <a:rPr sz="1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engine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understand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users'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interests,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preferences,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availability,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budget,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activity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requirements.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marR="297815" indent="-287020">
              <a:lnSpc>
                <a:spcPts val="2880"/>
              </a:lnSpc>
              <a:spcBef>
                <a:spcPts val="25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Connect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like-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minded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people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nearby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common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interests,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compatibility,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activity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preferences,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geographical proximity.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marR="255905" indent="-287020">
              <a:lnSpc>
                <a:spcPts val="288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powered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matching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personalized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10" dirty="0">
                <a:latin typeface="Times New Roman" panose="02020603050405020304"/>
                <a:cs typeface="Times New Roman" panose="02020603050405020304"/>
              </a:rPr>
              <a:t>recommendations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people,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groups,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activities,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events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context.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Enable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radius-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discovery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1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map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find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nearby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people,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activities,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events,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and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>
              <a:lnSpc>
                <a:spcPct val="100000"/>
              </a:lnSpc>
              <a:spcBef>
                <a:spcPts val="96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opportunities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protecting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exact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locations.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Facilitate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affordable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1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activities</a:t>
            </a:r>
            <a:r>
              <a:rPr sz="1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helping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form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groups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share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activity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venue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costs.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sz="16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talent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creator</a:t>
            </a:r>
            <a:r>
              <a:rPr sz="1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discovery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connecting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skilled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individuals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interested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audiences,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collaborators,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opportunities.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b="1" dirty="0">
                <a:latin typeface="Times New Roman" panose="02020603050405020304"/>
                <a:cs typeface="Times New Roman" panose="02020603050405020304"/>
              </a:rPr>
              <a:t>Enable</a:t>
            </a:r>
            <a:r>
              <a:rPr sz="1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demand-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based activity</a:t>
            </a:r>
            <a:r>
              <a:rPr sz="1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b="1" dirty="0">
                <a:latin typeface="Times New Roman" panose="02020603050405020304"/>
                <a:cs typeface="Times New Roman" panose="02020603050405020304"/>
              </a:rPr>
              <a:t>creation</a:t>
            </a:r>
            <a:r>
              <a:rPr sz="1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collecting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participant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interest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estimating demand before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creators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invest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venues,</a:t>
            </a:r>
            <a:r>
              <a:rPr sz="1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resources,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events.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11626" y="314705"/>
            <a:ext cx="5003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13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34390" y="3619627"/>
            <a:ext cx="819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Interest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Profiles,</a:t>
            </a:r>
            <a:r>
              <a:rPr spc="-35" dirty="0"/>
              <a:t> </a:t>
            </a:r>
            <a:r>
              <a:rPr dirty="0"/>
              <a:t>interests,</a:t>
            </a:r>
            <a:r>
              <a:rPr spc="-20" dirty="0"/>
              <a:t> </a:t>
            </a:r>
            <a:r>
              <a:rPr dirty="0"/>
              <a:t>skills,</a:t>
            </a:r>
            <a:r>
              <a:rPr spc="-40" dirty="0"/>
              <a:t> </a:t>
            </a:r>
            <a:r>
              <a:rPr dirty="0"/>
              <a:t>availability</a:t>
            </a:r>
            <a:r>
              <a:rPr spc="-1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10" dirty="0"/>
              <a:t>preferences.</a:t>
            </a:r>
            <a:endParaRPr spc="-10" dirty="0"/>
          </a:p>
          <a:p>
            <a:pPr marL="12700" marR="574675">
              <a:lnSpc>
                <a:spcPct val="150000"/>
              </a:lnSpc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AI</a:t>
            </a:r>
            <a:r>
              <a:rPr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Intent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Engine</a:t>
            </a:r>
            <a:r>
              <a:rPr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dirty="0"/>
              <a:t>Understands</a:t>
            </a:r>
            <a:r>
              <a:rPr spc="-35" dirty="0"/>
              <a:t> </a:t>
            </a:r>
            <a:r>
              <a:rPr spc="-10" dirty="0"/>
              <a:t>natural-</a:t>
            </a:r>
            <a:r>
              <a:rPr dirty="0"/>
              <a:t>language</a:t>
            </a:r>
            <a:r>
              <a:rPr spc="-10" dirty="0"/>
              <a:t> </a:t>
            </a:r>
            <a:r>
              <a:rPr dirty="0"/>
              <a:t>user</a:t>
            </a:r>
            <a:r>
              <a:rPr spc="-35" dirty="0"/>
              <a:t> </a:t>
            </a:r>
            <a:r>
              <a:rPr dirty="0"/>
              <a:t>needs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converts</a:t>
            </a:r>
            <a:r>
              <a:rPr spc="-30" dirty="0"/>
              <a:t> </a:t>
            </a:r>
            <a:r>
              <a:rPr dirty="0"/>
              <a:t>them</a:t>
            </a:r>
            <a:r>
              <a:rPr spc="-30" dirty="0"/>
              <a:t> </a:t>
            </a:r>
            <a:r>
              <a:rPr dirty="0"/>
              <a:t>into</a:t>
            </a:r>
            <a:r>
              <a:rPr spc="-25" dirty="0"/>
              <a:t> </a:t>
            </a:r>
            <a:r>
              <a:rPr dirty="0"/>
              <a:t>actionable</a:t>
            </a:r>
            <a:r>
              <a:rPr spc="-20" dirty="0"/>
              <a:t> </a:t>
            </a:r>
            <a:r>
              <a:rPr spc="-10" dirty="0"/>
              <a:t>intent.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AI</a:t>
            </a:r>
            <a:r>
              <a:rPr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Matching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Recommendation</a:t>
            </a:r>
            <a:r>
              <a:rPr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Matches</a:t>
            </a:r>
            <a:r>
              <a:rPr spc="-20" dirty="0"/>
              <a:t> </a:t>
            </a:r>
            <a:r>
              <a:rPr dirty="0"/>
              <a:t>people,</a:t>
            </a:r>
            <a:r>
              <a:rPr spc="-45" dirty="0"/>
              <a:t> </a:t>
            </a:r>
            <a:r>
              <a:rPr dirty="0"/>
              <a:t>activities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opportunities</a:t>
            </a:r>
            <a:r>
              <a:rPr spc="-4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spc="-10" dirty="0"/>
              <a:t>interests, </a:t>
            </a:r>
            <a:r>
              <a:rPr dirty="0"/>
              <a:t>compatibility,</a:t>
            </a:r>
            <a:r>
              <a:rPr spc="-20" dirty="0"/>
              <a:t> </a:t>
            </a:r>
            <a:r>
              <a:rPr dirty="0"/>
              <a:t>location,</a:t>
            </a:r>
            <a:r>
              <a:rPr spc="-50" dirty="0"/>
              <a:t> </a:t>
            </a:r>
            <a:r>
              <a:rPr dirty="0"/>
              <a:t>time</a:t>
            </a:r>
            <a:r>
              <a:rPr spc="-2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budget.</a:t>
            </a:r>
            <a:endParaRPr spc="-10" dirty="0"/>
          </a:p>
          <a:p>
            <a:pPr marL="12700" marR="5080">
              <a:lnSpc>
                <a:spcPct val="150000"/>
              </a:lnSpc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Local</a:t>
            </a:r>
            <a:r>
              <a:rPr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Discovery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30" dirty="0"/>
              <a:t> </a:t>
            </a:r>
            <a:r>
              <a:rPr spc="-10" dirty="0"/>
              <a:t>Radius-</a:t>
            </a:r>
            <a:r>
              <a:rPr dirty="0"/>
              <a:t>based</a:t>
            </a:r>
            <a:r>
              <a:rPr spc="-30" dirty="0"/>
              <a:t> </a:t>
            </a:r>
            <a:r>
              <a:rPr dirty="0"/>
              <a:t>discovery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nearby</a:t>
            </a:r>
            <a:r>
              <a:rPr spc="-25" dirty="0"/>
              <a:t> </a:t>
            </a:r>
            <a:r>
              <a:rPr dirty="0"/>
              <a:t>people,</a:t>
            </a:r>
            <a:r>
              <a:rPr spc="-45" dirty="0"/>
              <a:t> </a:t>
            </a:r>
            <a:r>
              <a:rPr dirty="0"/>
              <a:t>activities,</a:t>
            </a:r>
            <a:r>
              <a:rPr spc="10" dirty="0"/>
              <a:t> </a:t>
            </a:r>
            <a:r>
              <a:rPr dirty="0"/>
              <a:t>events,</a:t>
            </a:r>
            <a:r>
              <a:rPr spc="-35" dirty="0"/>
              <a:t> </a:t>
            </a:r>
            <a:r>
              <a:rPr dirty="0"/>
              <a:t>talent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communities.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Activity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Formation</a:t>
            </a:r>
            <a:r>
              <a:rPr b="1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25" dirty="0"/>
              <a:t> </a:t>
            </a:r>
            <a:r>
              <a:rPr dirty="0"/>
              <a:t>Enables</a:t>
            </a:r>
            <a:r>
              <a:rPr spc="-25" dirty="0"/>
              <a:t> </a:t>
            </a:r>
            <a:r>
              <a:rPr dirty="0"/>
              <a:t>users</a:t>
            </a:r>
            <a:r>
              <a:rPr spc="-1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connect,</a:t>
            </a:r>
            <a:r>
              <a:rPr spc="-25" dirty="0"/>
              <a:t> </a:t>
            </a:r>
            <a:r>
              <a:rPr dirty="0"/>
              <a:t>form</a:t>
            </a:r>
            <a:r>
              <a:rPr spc="-25" dirty="0"/>
              <a:t> </a:t>
            </a:r>
            <a:r>
              <a:rPr dirty="0"/>
              <a:t>groups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organize</a:t>
            </a:r>
            <a:r>
              <a:rPr spc="-15" dirty="0"/>
              <a:t> </a:t>
            </a:r>
            <a:r>
              <a:rPr spc="-20" dirty="0"/>
              <a:t>interest-</a:t>
            </a:r>
            <a:r>
              <a:rPr dirty="0"/>
              <a:t>based</a:t>
            </a:r>
            <a:r>
              <a:rPr spc="10" dirty="0"/>
              <a:t> </a:t>
            </a:r>
            <a:r>
              <a:rPr spc="-10" dirty="0"/>
              <a:t>activities.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Talent</a:t>
            </a:r>
            <a:r>
              <a:rPr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Creator</a:t>
            </a:r>
            <a:r>
              <a:rPr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Ecosystem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50" dirty="0"/>
              <a:t> </a:t>
            </a:r>
            <a:r>
              <a:rPr dirty="0"/>
              <a:t>Connects</a:t>
            </a:r>
            <a:r>
              <a:rPr spc="-30" dirty="0"/>
              <a:t> </a:t>
            </a:r>
            <a:r>
              <a:rPr dirty="0"/>
              <a:t>creators/talent</a:t>
            </a:r>
            <a:r>
              <a:rPr spc="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interested</a:t>
            </a:r>
            <a:r>
              <a:rPr spc="-10" dirty="0"/>
              <a:t> </a:t>
            </a:r>
            <a:r>
              <a:rPr dirty="0"/>
              <a:t>local</a:t>
            </a:r>
            <a:r>
              <a:rPr spc="-25" dirty="0"/>
              <a:t> </a:t>
            </a:r>
            <a:r>
              <a:rPr dirty="0"/>
              <a:t>audiences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collaboration opportunities.</a:t>
            </a:r>
            <a:endParaRPr spc="-10" dirty="0"/>
          </a:p>
          <a:p>
            <a:pPr marL="12700" marR="200025">
              <a:lnSpc>
                <a:spcPct val="150000"/>
              </a:lnSpc>
              <a:spcBef>
                <a:spcPts val="5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Demand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Cost</a:t>
            </a:r>
            <a:r>
              <a:rPr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Supports</a:t>
            </a:r>
            <a:r>
              <a:rPr spc="-50" dirty="0"/>
              <a:t> </a:t>
            </a:r>
            <a:r>
              <a:rPr dirty="0"/>
              <a:t>early</a:t>
            </a:r>
            <a:r>
              <a:rPr spc="-30" dirty="0"/>
              <a:t> </a:t>
            </a:r>
            <a:r>
              <a:rPr dirty="0"/>
              <a:t>interest</a:t>
            </a:r>
            <a:r>
              <a:rPr spc="-20" dirty="0"/>
              <a:t> </a:t>
            </a:r>
            <a:r>
              <a:rPr dirty="0"/>
              <a:t>collection,</a:t>
            </a:r>
            <a:r>
              <a:rPr spc="-25" dirty="0"/>
              <a:t> </a:t>
            </a:r>
            <a:r>
              <a:rPr dirty="0"/>
              <a:t>demand</a:t>
            </a:r>
            <a:r>
              <a:rPr spc="-10" dirty="0"/>
              <a:t> </a:t>
            </a:r>
            <a:r>
              <a:rPr dirty="0"/>
              <a:t>validation</a:t>
            </a:r>
            <a:r>
              <a:rPr spc="-3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activity</a:t>
            </a:r>
            <a:r>
              <a:rPr spc="-10" dirty="0"/>
              <a:t> </a:t>
            </a:r>
            <a:r>
              <a:rPr dirty="0"/>
              <a:t>cost</a:t>
            </a:r>
            <a:r>
              <a:rPr spc="-50" dirty="0"/>
              <a:t> </a:t>
            </a:r>
            <a:r>
              <a:rPr spc="-10" dirty="0"/>
              <a:t>sharing.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Trust,</a:t>
            </a:r>
            <a:r>
              <a:rPr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Privacy</a:t>
            </a:r>
            <a:r>
              <a:rPr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Security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45" dirty="0"/>
              <a:t> </a:t>
            </a:r>
            <a:r>
              <a:rPr dirty="0"/>
              <a:t>Verification,</a:t>
            </a:r>
            <a:r>
              <a:rPr spc="-15" dirty="0"/>
              <a:t> </a:t>
            </a:r>
            <a:r>
              <a:rPr spc="-10" dirty="0"/>
              <a:t>privacy-</a:t>
            </a:r>
            <a:r>
              <a:rPr dirty="0"/>
              <a:t>aware location,</a:t>
            </a:r>
            <a:r>
              <a:rPr spc="-45" dirty="0"/>
              <a:t> </a:t>
            </a:r>
            <a:r>
              <a:rPr dirty="0"/>
              <a:t>reporting/blocking</a:t>
            </a:r>
            <a:r>
              <a:rPr spc="-1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reputation mechanisms.</a:t>
            </a:r>
            <a:endParaRPr spc="-10" dirty="0"/>
          </a:p>
          <a:p>
            <a:pPr marL="12700" marR="1346200">
              <a:lnSpc>
                <a:spcPct val="150000"/>
              </a:lnSpc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Continuous</a:t>
            </a:r>
            <a:r>
              <a:rPr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Personalization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dirty="0"/>
              <a:t>—</a:t>
            </a:r>
            <a:r>
              <a:rPr spc="-40" dirty="0"/>
              <a:t> </a:t>
            </a:r>
            <a:r>
              <a:rPr dirty="0"/>
              <a:t>Learns</a:t>
            </a:r>
            <a:r>
              <a:rPr spc="-25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user</a:t>
            </a:r>
            <a:r>
              <a:rPr spc="-40" dirty="0"/>
              <a:t> </a:t>
            </a:r>
            <a:r>
              <a:rPr dirty="0"/>
              <a:t>interactions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feedback</a:t>
            </a:r>
            <a:r>
              <a:rPr spc="-3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improve </a:t>
            </a:r>
            <a:r>
              <a:rPr spc="-10" dirty="0"/>
              <a:t>future recommendations.</a:t>
            </a:r>
            <a:endParaRPr spc="-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35044" y="225298"/>
            <a:ext cx="3434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37082" y="989456"/>
            <a:ext cx="1051179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010" indent="215265">
              <a:lnSpc>
                <a:spcPct val="150000"/>
              </a:lnSpc>
              <a:spcBef>
                <a:spcPts val="100"/>
              </a:spcBef>
              <a:buAutoNum type="arabicPlain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X.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Liu, Q.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He,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Y.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Tian,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W.-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Lee,</a:t>
            </a:r>
            <a:r>
              <a:rPr sz="1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McPherson,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Han,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“Event-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Networks: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Linking the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Online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Offline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Worlds,”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Proceedings of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18th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ACM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SIGKDD</a:t>
            </a:r>
            <a:r>
              <a:rPr sz="12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International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Conference on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Knowledge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Discovery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Mining</a:t>
            </a:r>
            <a:r>
              <a:rPr sz="120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(KDD)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2012,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1032–1040.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10.1145/2339530.2339693.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27965" indent="-215265">
              <a:lnSpc>
                <a:spcPct val="100000"/>
              </a:lnSpc>
              <a:spcBef>
                <a:spcPts val="720"/>
              </a:spcBef>
              <a:buAutoNum type="arabicPlain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E.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Daly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W.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Geyer,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“Effective Event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Discovery: Using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Location and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Information for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Scoping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Recommendations,”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Proceedings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5th</a:t>
            </a:r>
            <a:r>
              <a:rPr sz="120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ACM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i="1" dirty="0">
                <a:latin typeface="Times New Roman" panose="02020603050405020304"/>
                <a:cs typeface="Times New Roman" panose="02020603050405020304"/>
              </a:rPr>
              <a:t>Conference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Recommender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(RecSys)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2011,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277–280.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10.1145/2043932.2043982.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5080" indent="215265">
              <a:lnSpc>
                <a:spcPct val="150000"/>
              </a:lnSpc>
              <a:buAutoNum type="arabicPlain" startAt="3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H.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Khrouf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R.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Troncy,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“Hybrid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Recommendation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Linked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Diversity,”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Proceedings</a:t>
            </a:r>
            <a:r>
              <a:rPr sz="120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7th</a:t>
            </a:r>
            <a:r>
              <a:rPr sz="12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ACM</a:t>
            </a:r>
            <a:r>
              <a:rPr sz="1200" i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Conference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Recommender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Systems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(RecSys)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2013,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185–192.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10.1145/2507157.2507171.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27965" indent="-215265">
              <a:lnSpc>
                <a:spcPct val="100000"/>
              </a:lnSpc>
              <a:spcBef>
                <a:spcPts val="720"/>
              </a:spcBef>
              <a:buAutoNum type="arabicPlain" startAt="3"/>
              <a:tabLst>
                <a:tab pos="227965" algn="l"/>
              </a:tabLst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C.-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Chen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Y.-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Sun,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“Exploring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Acquaintances of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Site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Effective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Recommendations,”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Information</a:t>
            </a:r>
            <a:r>
              <a:rPr sz="12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Processing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Letters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,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116,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3,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227–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236,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2016.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10.1016/j.ipl.2015.11.013.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479425" indent="215265">
              <a:lnSpc>
                <a:spcPct val="150000"/>
              </a:lnSpc>
              <a:spcBef>
                <a:spcPts val="5"/>
              </a:spcBef>
              <a:buAutoNum type="arabicPlain" startAt="5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Purushotham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C.-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Kuo,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“Personalized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Recommender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Location-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Event-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Networks,”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ACM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Transactions</a:t>
            </a:r>
            <a:r>
              <a:rPr sz="1200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Spatial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Algorithms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no.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4,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2016.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10.1145/2987381.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313690" indent="215265">
              <a:lnSpc>
                <a:spcPct val="150000"/>
              </a:lnSpc>
              <a:buAutoNum type="arabicPlain" startAt="5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H.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Yin,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L.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Zou,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Q.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Nguyen,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Z.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Huang,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Zhou,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“Joint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Event-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Partner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Recommendation in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Event-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Networks,”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Proceedings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34th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International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Conference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(ICDE)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2018,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929–940.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10.1109/ICDE.2018.00088.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27965" indent="-215265">
              <a:lnSpc>
                <a:spcPct val="100000"/>
              </a:lnSpc>
              <a:spcBef>
                <a:spcPts val="720"/>
              </a:spcBef>
              <a:buAutoNum type="arabicPlain" startAt="5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K.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Han,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Y.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He,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Xiao,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Tang,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Gui,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Xu,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Luo,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“Budget-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Constrained</a:t>
            </a:r>
            <a:r>
              <a:rPr sz="1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Organization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Influential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Events,”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Proceedings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34th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i="1" dirty="0">
                <a:latin typeface="Times New Roman" panose="02020603050405020304"/>
                <a:cs typeface="Times New Roman" panose="02020603050405020304"/>
              </a:rPr>
              <a:t>International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Conference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200" i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(ICDE)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2018,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917–928.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10.1109/ICDE.2018.00087.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109220" indent="215265">
              <a:lnSpc>
                <a:spcPct val="150000"/>
              </a:lnSpc>
              <a:buAutoNum type="arabicPlain" startAt="8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Y.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Mo,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Li,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Wang,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L.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Yang,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Xu,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“Event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Recommendation in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Networks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Reverse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Random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Walk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Participant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Scale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Control,”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Future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Generation</a:t>
            </a:r>
            <a:r>
              <a:rPr sz="1200" i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79,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pp.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383–395,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2018.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10.1016/j.future.2017.02.045.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227965" indent="-215265">
              <a:lnSpc>
                <a:spcPct val="100000"/>
              </a:lnSpc>
              <a:spcBef>
                <a:spcPts val="720"/>
              </a:spcBef>
              <a:buAutoNum type="arabicPlain" startAt="8"/>
              <a:tabLst>
                <a:tab pos="2279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G.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Liao and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Deng,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“Leveraging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Relationship-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Graph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Attention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Recommendation,”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Wireless</a:t>
            </a:r>
            <a:r>
              <a:rPr sz="1200" i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Communications</a:t>
            </a:r>
            <a:r>
              <a:rPr sz="12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spc="-10" dirty="0">
                <a:latin typeface="Times New Roman" panose="02020603050405020304"/>
                <a:cs typeface="Times New Roman" panose="02020603050405020304"/>
              </a:rPr>
              <a:t>Mobile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i="1" dirty="0">
                <a:latin typeface="Times New Roman" panose="02020603050405020304"/>
                <a:cs typeface="Times New Roman" panose="02020603050405020304"/>
              </a:rPr>
              <a:t>Computing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2020,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Article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ID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8834450,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2020.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doi: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10.1155/2020/8834450.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 marR="47625" indent="291465">
              <a:lnSpc>
                <a:spcPct val="150000"/>
              </a:lnSpc>
              <a:spcBef>
                <a:spcPts val="5"/>
              </a:spcBef>
              <a:buAutoNum type="arabicPlain" startAt="10"/>
              <a:tabLst>
                <a:tab pos="304165" algn="l"/>
              </a:tabLst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T.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Sun,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Z.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Duan,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Zhu,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P.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Guo,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H.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Sun,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“Social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Event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Recommendation Method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Unexpectedness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Metric,”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Journal</a:t>
            </a:r>
            <a:r>
              <a:rPr sz="1200" i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i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12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i="1" dirty="0">
                <a:latin typeface="Times New Roman" panose="02020603050405020304"/>
                <a:cs typeface="Times New Roman" panose="02020603050405020304"/>
              </a:rPr>
              <a:t>Applications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vol.</a:t>
            </a:r>
            <a:r>
              <a:rPr sz="1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44,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no. 3, pp. 760–768,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2024.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13657" y="3198952"/>
            <a:ext cx="407924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dirty="0"/>
              <a:t>THANK </a:t>
            </a:r>
            <a:r>
              <a:rPr sz="5200" spc="-25" dirty="0"/>
              <a:t>YOU</a:t>
            </a:r>
            <a:endParaRPr sz="5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2454"/>
                </a:solidFill>
                <a:latin typeface="Arial"/>
              </a:defRPr>
            </a:pPr>
            <a:r>
              <a:t>SYSTEM ARCHITECTURE &amp; PROJECT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475569"/>
                </a:solidFill>
                <a:latin typeface="Calibri"/>
              </a:defRPr>
            </a:pPr>
            <a:r>
              <a:t>End-to-End Pipeline: From Natural Language Intent &amp; Multi-Attribute Profiling to Real-World Group Fulfillment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1993392" cy="36576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1. USER &amp; INPUT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17904"/>
            <a:ext cx="1993392" cy="113385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Natural Language Intent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Free-form query: 'Play badminton with 4 players Saturday evening'</a:t>
            </a:r>
          </a:p>
          <a:p>
            <a:pPr algn="ctr">
              <a:defRPr sz="800" b="1">
                <a:solidFill>
                  <a:srgbClr val="475569"/>
                </a:solidFill>
                <a:latin typeface="Calibri"/>
              </a:defRPr>
            </a:pPr>
            <a:r>
              <a:t>[NLP User Query]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1488"/>
            <a:ext cx="1993392" cy="113385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Multi-Factor User Profile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Interests, Master Skills, Weekly Availability, Locality &amp; Budget</a:t>
            </a:r>
          </a:p>
          <a:p>
            <a:pPr algn="ctr">
              <a:defRPr sz="800" b="1">
                <a:solidFill>
                  <a:srgbClr val="475569"/>
                </a:solidFill>
                <a:latin typeface="Calibri"/>
              </a:defRPr>
            </a:pPr>
            <a:r>
              <a:t>[Profile Attributes]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05072"/>
            <a:ext cx="1993392" cy="113385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Venue &amp; Activity Catalog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Venue slots (timing, price) &amp; Activity concepts / templates</a:t>
            </a:r>
          </a:p>
          <a:p>
            <a:pPr algn="ctr">
              <a:defRPr sz="800" b="1">
                <a:solidFill>
                  <a:srgbClr val="475569"/>
                </a:solidFill>
                <a:latin typeface="Calibri"/>
              </a:defRPr>
            </a:pPr>
            <a:r>
              <a:t>[Platform Supply]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2888" y="3090672"/>
            <a:ext cx="146304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15768" y="1078992"/>
            <a:ext cx="1993392" cy="36576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2. AI INTELLIGENCE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1517904"/>
            <a:ext cx="1993392" cy="1133856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AI Intent Understanding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Extracts activity taxonomy, target size &amp; locality via LLM</a:t>
            </a:r>
          </a:p>
          <a:p>
            <a:pPr algn="ctr">
              <a:defRPr sz="800" b="1">
                <a:solidFill>
                  <a:srgbClr val="1D4ED8"/>
                </a:solidFill>
                <a:latin typeface="Calibri"/>
              </a:defRPr>
            </a:pPr>
            <a:r>
              <a:t>[ai_service module]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5768" y="2761488"/>
            <a:ext cx="1993392" cy="1133856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Semantic Vector Embeddings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Generates 1536-dim vector embeddings for queries &amp; profiles</a:t>
            </a:r>
          </a:p>
          <a:p>
            <a:pPr algn="ctr">
              <a:defRPr sz="800" b="1">
                <a:solidFill>
                  <a:srgbClr val="1D4ED8"/>
                </a:solidFill>
                <a:latin typeface="Calibri"/>
              </a:defRPr>
            </a:pPr>
            <a:r>
              <a:t>[pgvector Embedding]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4005072"/>
            <a:ext cx="1993392" cy="1133856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AI Demand Radar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Aggregates unmet intent signals to predict activity demand</a:t>
            </a:r>
          </a:p>
          <a:p>
            <a:pPr algn="ctr">
              <a:defRPr sz="800" b="1">
                <a:solidFill>
                  <a:srgbClr val="1D4ED8"/>
                </a:solidFill>
                <a:latin typeface="Calibri"/>
              </a:defRPr>
            </a:pPr>
            <a:r>
              <a:t>[Demand Forecasting]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45736" y="3090672"/>
            <a:ext cx="146304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28616" y="1078992"/>
            <a:ext cx="1993392" cy="36576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3. HYBRID MATCHING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28616" y="1517904"/>
            <a:ext cx="1993392" cy="1133856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5E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Deterministic Filters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Hard-gate: Locality radius, day &amp; time overlap, budget range</a:t>
            </a:r>
          </a:p>
          <a:p>
            <a:pPr algn="ctr">
              <a:defRPr sz="800" b="1">
                <a:solidFill>
                  <a:srgbClr val="0F766E"/>
                </a:solidFill>
                <a:latin typeface="Calibri"/>
              </a:defRPr>
            </a:pPr>
            <a:r>
              <a:t>[0-100 Pts Scoring]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28616" y="2761488"/>
            <a:ext cx="1993392" cy="1133856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5E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Cosine Semantic Matching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High-speed cosine distance similarity across vector spaces</a:t>
            </a:r>
          </a:p>
          <a:p>
            <a:pPr algn="ctr">
              <a:defRPr sz="800" b="1">
                <a:solidFill>
                  <a:srgbClr val="0F766E"/>
                </a:solidFill>
                <a:latin typeface="Calibri"/>
              </a:defRPr>
            </a:pPr>
            <a:r>
              <a:t>[Vector Matching]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28616" y="4005072"/>
            <a:ext cx="1993392" cy="1133856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5EE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Trust &amp; Reputation Scoring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Weights ranking by verified event completion &amp; peer reviews</a:t>
            </a:r>
          </a:p>
          <a:p>
            <a:pPr algn="ctr">
              <a:defRPr sz="800" b="1">
                <a:solidFill>
                  <a:srgbClr val="0F766E"/>
                </a:solidFill>
                <a:latin typeface="Calibri"/>
              </a:defRPr>
            </a:pPr>
            <a:r>
              <a:t>[Reputation Guard]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58584" y="3090672"/>
            <a:ext cx="146304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41464" y="1078992"/>
            <a:ext cx="1993392" cy="365760"/>
          </a:xfrm>
          <a:prstGeom prst="roundRect">
            <a:avLst/>
          </a:prstGeom>
          <a:solidFill>
            <a:srgbClr val="4338CA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4. GROUP &amp; PROPOSAL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1464" y="1517904"/>
            <a:ext cx="1993392" cy="113385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Dynamic Group Proposal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Forms micro-community: Target Size (4) &amp; Min Size (3)</a:t>
            </a:r>
          </a:p>
          <a:p>
            <a:pPr algn="ctr">
              <a:defRPr sz="800" b="1">
                <a:solidFill>
                  <a:srgbClr val="4338CA"/>
                </a:solidFill>
                <a:latin typeface="Calibri"/>
              </a:defRPr>
            </a:pPr>
            <a:r>
              <a:t>[PROPOSED State]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41464" y="2761488"/>
            <a:ext cx="1993392" cy="113385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Threshold Consensus Engine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Peer invitations; members ACCEPT until minimum threshold met</a:t>
            </a:r>
          </a:p>
          <a:p>
            <a:pPr algn="ctr">
              <a:defRPr sz="800" b="1">
                <a:solidFill>
                  <a:srgbClr val="4338CA"/>
                </a:solidFill>
                <a:latin typeface="Calibri"/>
              </a:defRPr>
            </a:pPr>
            <a:r>
              <a:t>[CONFIRMED State]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41464" y="4005072"/>
            <a:ext cx="1993392" cy="113385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Controlled Action Gate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Step 9 pipeline: Pure Validation → Permission Gate → Dispatcher</a:t>
            </a:r>
          </a:p>
          <a:p>
            <a:pPr algn="ctr">
              <a:defRPr sz="800" b="1">
                <a:solidFill>
                  <a:srgbClr val="4338CA"/>
                </a:solidFill>
                <a:latin typeface="Calibri"/>
              </a:defRPr>
            </a:pPr>
            <a:r>
              <a:t>[Safe Dispatcher]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71432" y="3090672"/>
            <a:ext cx="146304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54312" y="1078992"/>
            <a:ext cx="1993392" cy="36576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5. EXECUTION &amp; VENUE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54312" y="1517904"/>
            <a:ext cx="1993392" cy="1133856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Scheduled Event Conversion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Atomically converts confirmed proposal to official Event</a:t>
            </a:r>
          </a:p>
          <a:p>
            <a:pPr algn="ctr">
              <a:defRPr sz="800" b="1">
                <a:solidFill>
                  <a:srgbClr val="047857"/>
                </a:solidFill>
                <a:latin typeface="Calibri"/>
              </a:defRPr>
            </a:pPr>
            <a:r>
              <a:t>[PUBLISHED Event]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54312" y="2761488"/>
            <a:ext cx="1993392" cy="1133856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Split-Cost Venue Booking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Reserves VenueSlot, splits cost equally across all members</a:t>
            </a:r>
          </a:p>
          <a:p>
            <a:pPr algn="ctr">
              <a:defRPr sz="800" b="1">
                <a:solidFill>
                  <a:srgbClr val="047857"/>
                </a:solidFill>
                <a:latin typeface="Calibri"/>
              </a:defRPr>
            </a:pPr>
            <a:r>
              <a:t>[VenueBooking Bridge]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54312" y="4005072"/>
            <a:ext cx="1993392" cy="1133856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Member Re-Engagement</a:t>
            </a:r>
          </a:p>
          <a:p>
            <a:pPr algn="ctr">
              <a:defRPr sz="850">
                <a:solidFill>
                  <a:srgbClr val="334155"/>
                </a:solidFill>
                <a:latin typeface="Calibri"/>
              </a:defRPr>
            </a:pPr>
            <a:r>
              <a:t>Detects inactive members &amp; triggers controlled notifications</a:t>
            </a:r>
          </a:p>
          <a:p>
            <a:pPr algn="ctr">
              <a:defRPr sz="800" b="1">
                <a:solidFill>
                  <a:srgbClr val="047857"/>
                </a:solidFill>
                <a:latin typeface="Calibri"/>
              </a:defRPr>
            </a:pPr>
            <a:r>
              <a:t>[Notification Engine]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303520"/>
            <a:ext cx="109270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/>
          <a:lstStyle/>
          <a:p>
            <a:pPr algn="ctr">
              <a:defRPr sz="1050" b="1">
                <a:solidFill>
                  <a:srgbClr val="065F46"/>
                </a:solidFill>
                <a:latin typeface="Arial"/>
              </a:defRPr>
            </a:pPr>
            <a:r>
              <a:t>CLOSED-LOOP FEEDBACK, REPUTATION &amp; COMMUNITY LIFECYCLE RE-ENGAGEMENT</a:t>
            </a:r>
          </a:p>
          <a:p>
            <a:pPr algn="ctr">
              <a:defRPr sz="900" b="1">
                <a:solidFill>
                  <a:srgbClr val="047857"/>
                </a:solidFill>
                <a:latin typeface="Calibri"/>
              </a:defRPr>
            </a:pPr>
            <a:r>
              <a:t>Real-World Event Attendance  --&gt;  Peer Review &amp; Star Rating  --&gt;  User Trust Score Recalibration  --&gt;  Community Health Trend Analytics (Improving/Declining)  --&gt;  AI Lifecycle Recommendations &amp; Controlled Re-Engagement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15650</Words>
  <Application>WPS Presentation</Application>
  <PresentationFormat>On-screen Show (4:3)</PresentationFormat>
  <Paragraphs>500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Arial</vt:lpstr>
      <vt:lpstr>Wingdings</vt:lpstr>
      <vt:lpstr>Calibri</vt:lpstr>
      <vt:lpstr>Arial MT</vt:lpstr>
      <vt:lpstr>Microsoft YaHei</vt:lpstr>
      <vt:lpstr>Arial Unicode MS</vt:lpstr>
      <vt:lpstr>Times New Roman</vt:lpstr>
      <vt:lpstr>Office Theme</vt:lpstr>
      <vt:lpstr>(AUTONOMOUS) Abids. Hyderabad – 500 001</vt:lpstr>
      <vt:lpstr>CONTENTS</vt:lpstr>
      <vt:lpstr>ABSTRACT</vt:lpstr>
      <vt:lpstr>INTRODUCTION</vt:lpstr>
      <vt:lpstr>LITERATURE REVIEW</vt:lpstr>
      <vt:lpstr>PowerPoint 演示文稿</vt:lpstr>
      <vt:lpstr>PowerPoint 演示文稿</vt:lpstr>
      <vt:lpstr>PowerPoint 演示文稿</vt:lpstr>
      <vt:lpstr>PowerPoint 演示文稿</vt:lpstr>
      <vt:lpstr>EXISTING SYSTEM</vt:lpstr>
      <vt:lpstr>PROBLEM STATEMENT</vt:lpstr>
      <vt:lpstr>OBJECTIVES</vt:lpstr>
      <vt:lpstr>PROPOSED SYSTEM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STANLEY COLLEGE OF ENGINEERING AND TECHNOLOGY FOR WOMEN(AUTONOMOUS) Abids. Hyderabad – 500 001</dc:title>
  <dc:creator>Mohammed Rafeeq</dc:creator>
  <cp:lastModifiedBy>Saniyah Iram</cp:lastModifiedBy>
  <cp:revision>1</cp:revision>
  <dcterms:created xsi:type="dcterms:W3CDTF">2026-09-21T06:11:39Z</dcterms:created>
  <dcterms:modified xsi:type="dcterms:W3CDTF">2026-09-21T06:11:39Z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2026-09-20T05:30:00Z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2026-09-21T05:30:00Z</vt:filetime>
  </property>
  <property fmtid="{D5CDD505-2E9C-101B-9397-08002B2CF9AE}" pid="6" name="Producer">
    <vt:lpwstr>Microsoft® PowerPoint® 2024</vt:lpwstr>
  </property>
  <property fmtid="{D5CDD505-2E9C-101B-9397-08002B2CF9AE}" pid="7" name="KSOProductBuildVer">
    <vt:lpwstr>1033-12.1.0.28485</vt:lpwstr>
  </property>
  <property fmtid="{D5CDD505-2E9C-101B-9397-08002B2CF9AE}" pid="8" name="ICV">
    <vt:lpwstr>538916D1C0A5414CB432EEB67118E815_12</vt:lpwstr>
  </property>
</Properties>
</file>